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11" r:id="rId7"/>
    <p:sldId id="303" r:id="rId8"/>
    <p:sldId id="309" r:id="rId9"/>
    <p:sldId id="310" r:id="rId10"/>
    <p:sldId id="312" r:id="rId11"/>
    <p:sldId id="305" r:id="rId12"/>
    <p:sldId id="313" r:id="rId13"/>
    <p:sldId id="314" r:id="rId14"/>
    <p:sldId id="315" r:id="rId15"/>
    <p:sldId id="316" r:id="rId16"/>
    <p:sldId id="317" r:id="rId17"/>
    <p:sldId id="318" r:id="rId18"/>
    <p:sldId id="321" r:id="rId19"/>
    <p:sldId id="319" r:id="rId20"/>
    <p:sldId id="302" r:id="rId21"/>
    <p:sldId id="320" r:id="rId22"/>
    <p:sldId id="322" r:id="rId23"/>
    <p:sldId id="323" r:id="rId24"/>
    <p:sldId id="324" r:id="rId25"/>
    <p:sldId id="325" r:id="rId26"/>
    <p:sldId id="307" r:id="rId27"/>
    <p:sldId id="326" r:id="rId28"/>
    <p:sldId id="308" r:id="rId29"/>
    <p:sldId id="30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5400" dirty="0" err="1">
                <a:solidFill>
                  <a:schemeClr val="tx1"/>
                </a:solidFill>
              </a:rPr>
              <a:t>Mesin-mesin</a:t>
            </a:r>
            <a:r>
              <a:rPr lang="en-US" sz="5400" dirty="0">
                <a:solidFill>
                  <a:schemeClr val="tx1"/>
                </a:solidFill>
              </a:rPr>
              <a:t> Listrik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#5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A9048-D737-617B-0BD1-EC21E35C9D4F}"/>
              </a:ext>
            </a:extLst>
          </p:cNvPr>
          <p:cNvSpPr/>
          <p:nvPr/>
        </p:nvSpPr>
        <p:spPr>
          <a:xfrm>
            <a:off x="906950" y="4376928"/>
            <a:ext cx="5847811" cy="121726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928E1D-1FEF-5305-D68F-5CFF7C03E02A}"/>
              </a:ext>
            </a:extLst>
          </p:cNvPr>
          <p:cNvSpPr txBox="1">
            <a:spLocks/>
          </p:cNvSpPr>
          <p:nvPr/>
        </p:nvSpPr>
        <p:spPr>
          <a:xfrm>
            <a:off x="903677" y="4375952"/>
            <a:ext cx="5847810" cy="12172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err="1">
                <a:solidFill>
                  <a:schemeClr val="tx1"/>
                </a:solidFill>
              </a:rPr>
              <a:t>Perhitungan</a:t>
            </a:r>
            <a:r>
              <a:rPr lang="en-US" sz="3200" dirty="0">
                <a:solidFill>
                  <a:schemeClr val="tx1"/>
                </a:solidFill>
              </a:rPr>
              <a:t> dan Sizing </a:t>
            </a:r>
            <a:r>
              <a:rPr lang="en-US" sz="3200" dirty="0" err="1">
                <a:solidFill>
                  <a:schemeClr val="tx1"/>
                </a:solidFill>
              </a:rPr>
              <a:t>Komponen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Sistem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Kontrol</a:t>
            </a:r>
            <a:r>
              <a:rPr lang="en-US" sz="3200" dirty="0">
                <a:solidFill>
                  <a:schemeClr val="tx1"/>
                </a:solidFill>
              </a:rPr>
              <a:t> Motor Listrik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ALUR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051123"/>
              </p:ext>
            </p:extLst>
          </p:nvPr>
        </p:nvGraphicFramePr>
        <p:xfrm>
          <a:off x="1096963" y="2272825"/>
          <a:ext cx="10058400" cy="3896084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1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2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3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4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Menghitung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I_FL (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arus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penuh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motor)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MCB,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kabel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kontaktor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, dan overload relay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Sizing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khusus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rangkaian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star-delta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Penggunaan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cheat sheet sizing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komponen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4FEA-8854-6330-063C-E37B2D720E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D" dirty="0" err="1"/>
              <a:t>Menghitung</a:t>
            </a:r>
            <a:r>
              <a:rPr lang="en-ID" dirty="0"/>
              <a:t> I_FL (</a:t>
            </a:r>
            <a:r>
              <a:rPr lang="en-ID" dirty="0" err="1"/>
              <a:t>Arus</a:t>
            </a:r>
            <a:r>
              <a:rPr lang="en-ID" dirty="0"/>
              <a:t> </a:t>
            </a:r>
            <a:r>
              <a:rPr lang="en-ID" dirty="0" err="1"/>
              <a:t>Penuh</a:t>
            </a:r>
            <a:r>
              <a:rPr lang="en-ID" dirty="0"/>
              <a:t> Motor)</a:t>
            </a:r>
          </a:p>
        </p:txBody>
      </p:sp>
    </p:spTree>
    <p:extLst>
      <p:ext uri="{BB962C8B-B14F-4D97-AF65-F5344CB8AC3E}">
        <p14:creationId xmlns:p14="http://schemas.microsoft.com/office/powerpoint/2010/main" val="36430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ABFD-8520-0811-9172-68576467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Menghitung</a:t>
            </a:r>
            <a:r>
              <a:rPr lang="en-US" dirty="0"/>
              <a:t> I_FL (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penuh</a:t>
            </a:r>
            <a:r>
              <a:rPr lang="en-US" dirty="0"/>
              <a:t> motor)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6D551-B839-1C8A-66AD-E4AFC4F3C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5126539" cy="3781321"/>
          </a:xfrm>
        </p:spPr>
        <p:txBody>
          <a:bodyPr>
            <a:normAutofit/>
          </a:bodyPr>
          <a:lstStyle/>
          <a:p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penuh</a:t>
            </a:r>
            <a:r>
              <a:rPr lang="en-US" sz="2400" dirty="0"/>
              <a:t> motor </a:t>
            </a:r>
            <a:r>
              <a:rPr lang="en-US" sz="2400" dirty="0" err="1"/>
              <a:t>diperlukan</a:t>
            </a:r>
            <a:r>
              <a:rPr lang="en-US" sz="2400" dirty="0"/>
              <a:t> </a:t>
            </a:r>
            <a:r>
              <a:rPr lang="en-US" sz="2400" dirty="0" err="1"/>
              <a:t>membaca</a:t>
            </a:r>
            <a:r>
              <a:rPr lang="en-US" sz="2400" dirty="0"/>
              <a:t> nameplate pada motor </a:t>
            </a:r>
            <a:r>
              <a:rPr lang="en-US" sz="2400" dirty="0" err="1"/>
              <a:t>lalu</a:t>
            </a:r>
            <a:r>
              <a:rPr lang="en-US" sz="2400" dirty="0"/>
              <a:t> </a:t>
            </a:r>
            <a:r>
              <a:rPr lang="en-US" sz="2400" dirty="0" err="1"/>
              <a:t>cari</a:t>
            </a:r>
            <a:r>
              <a:rPr lang="en-US" sz="2400" dirty="0"/>
              <a:t>:</a:t>
            </a:r>
          </a:p>
          <a:p>
            <a:r>
              <a:rPr lang="en-US" sz="2400" dirty="0"/>
              <a:t>- Motor Rated Power </a:t>
            </a:r>
            <a:r>
              <a:rPr lang="en-US" sz="2400" dirty="0" err="1"/>
              <a:t>dalam</a:t>
            </a:r>
            <a:r>
              <a:rPr lang="en-US" sz="2400" dirty="0"/>
              <a:t> KW</a:t>
            </a:r>
          </a:p>
          <a:p>
            <a:r>
              <a:rPr lang="en-US" sz="2400" dirty="0"/>
              <a:t>- Supply Voltage </a:t>
            </a:r>
            <a:r>
              <a:rPr lang="en-US" sz="2400" dirty="0" err="1"/>
              <a:t>dalam</a:t>
            </a:r>
            <a:r>
              <a:rPr lang="en-US" sz="2400" dirty="0"/>
              <a:t> Volts</a:t>
            </a:r>
          </a:p>
          <a:p>
            <a:r>
              <a:rPr lang="en-US" sz="2400" dirty="0"/>
              <a:t>- Power Factor </a:t>
            </a:r>
            <a:r>
              <a:rPr lang="en-US" sz="2400" dirty="0" err="1"/>
              <a:t>dari</a:t>
            </a:r>
            <a:r>
              <a:rPr lang="en-US" sz="2400" dirty="0"/>
              <a:t> Motor</a:t>
            </a:r>
          </a:p>
          <a:p>
            <a:r>
              <a:rPr lang="en-US" sz="2400" dirty="0"/>
              <a:t>- </a:t>
            </a:r>
            <a:r>
              <a:rPr lang="en-US" sz="2400" dirty="0" err="1"/>
              <a:t>Efisiensi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Motor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F1FF6B-97FD-3901-483D-6DBA66E4F242}"/>
              </a:ext>
            </a:extLst>
          </p:cNvPr>
          <p:cNvSpPr txBox="1">
            <a:spLocks/>
          </p:cNvSpPr>
          <p:nvPr/>
        </p:nvSpPr>
        <p:spPr>
          <a:xfrm>
            <a:off x="6695767" y="2108202"/>
            <a:ext cx="4459913" cy="75216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dirty="0"/>
              <a:t>Lalu </a:t>
            </a:r>
            <a:r>
              <a:rPr lang="en-US" sz="2400" dirty="0" err="1"/>
              <a:t>masukkan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rumus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4F777F-CD5E-B051-1B25-1FE56EC57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50" t="12262" r="5424" b="17298"/>
          <a:stretch>
            <a:fillRect/>
          </a:stretch>
        </p:blipFill>
        <p:spPr>
          <a:xfrm>
            <a:off x="6794090" y="2689123"/>
            <a:ext cx="4444181" cy="1308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5994BD-FFAA-74E1-9230-89FE03818E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2" t="10588" r="4761" b="13525"/>
          <a:stretch>
            <a:fillRect/>
          </a:stretch>
        </p:blipFill>
        <p:spPr>
          <a:xfrm>
            <a:off x="6794090" y="4578552"/>
            <a:ext cx="4459913" cy="130850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976DD0-F7E0-9AE9-CEE7-CD83FAD1409C}"/>
              </a:ext>
            </a:extLst>
          </p:cNvPr>
          <p:cNvSpPr txBox="1">
            <a:spLocks/>
          </p:cNvSpPr>
          <p:nvPr/>
        </p:nvSpPr>
        <p:spPr>
          <a:xfrm>
            <a:off x="8357910" y="4038600"/>
            <a:ext cx="1332272" cy="49898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Atau</a:t>
            </a:r>
          </a:p>
        </p:txBody>
      </p:sp>
    </p:spTree>
    <p:extLst>
      <p:ext uri="{BB962C8B-B14F-4D97-AF65-F5344CB8AC3E}">
        <p14:creationId xmlns:p14="http://schemas.microsoft.com/office/powerpoint/2010/main" val="303833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BFE16-C1BF-881C-B85F-5D14670A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06389-98D6-11DA-EBB3-DE6A8CB00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65449"/>
          </a:xfrm>
        </p:spPr>
        <p:txBody>
          <a:bodyPr/>
          <a:lstStyle/>
          <a:p>
            <a:pPr algn="ctr"/>
            <a:r>
              <a:rPr lang="en-US" dirty="0" err="1"/>
              <a:t>Bedah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 I_FL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80B269-50DC-C1F0-E318-2CA23013F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50" t="12262" r="5424" b="17298"/>
          <a:stretch>
            <a:fillRect/>
          </a:stretch>
        </p:blipFill>
        <p:spPr>
          <a:xfrm>
            <a:off x="1160696" y="1408122"/>
            <a:ext cx="3641869" cy="10722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26EA6F-D559-B4D9-CDEE-140243D7F5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2" t="10588" r="4761" b="13525"/>
          <a:stretch>
            <a:fillRect/>
          </a:stretch>
        </p:blipFill>
        <p:spPr>
          <a:xfrm>
            <a:off x="7394349" y="1408122"/>
            <a:ext cx="3761330" cy="1103549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B5760C1-0CE2-D6E4-6623-348FF61A2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60696" y="2663111"/>
            <a:ext cx="9994984" cy="336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0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27B0E-80C0-EA54-DDAD-01BE4430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D2768-3DC7-D685-C9A8-BC22E2BF2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65449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Mendapatkan</a:t>
            </a:r>
            <a:r>
              <a:rPr lang="en-US" sz="4000" dirty="0"/>
              <a:t> I_FL </a:t>
            </a:r>
            <a:r>
              <a:rPr lang="en-US" sz="4000" dirty="0" err="1"/>
              <a:t>dari</a:t>
            </a:r>
            <a:r>
              <a:rPr lang="en-US" sz="4000" dirty="0"/>
              <a:t> Nameplate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E2AFDB-AA79-4007-52D0-398825F45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50" t="12262" r="5424" b="17298"/>
          <a:stretch>
            <a:fillRect/>
          </a:stretch>
        </p:blipFill>
        <p:spPr>
          <a:xfrm>
            <a:off x="1160696" y="1408122"/>
            <a:ext cx="3641869" cy="10722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A745C5-8DE7-61D6-53E1-2A4DE6B9F9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2" t="10588" r="4761" b="13525"/>
          <a:stretch>
            <a:fillRect/>
          </a:stretch>
        </p:blipFill>
        <p:spPr>
          <a:xfrm>
            <a:off x="7394349" y="1408122"/>
            <a:ext cx="3761330" cy="1103549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F52FCA-2A60-AE63-C4A2-BD9D5EA33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58368" y="2891238"/>
            <a:ext cx="4955852" cy="33154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E463F2-07F2-1219-344E-8D68D707F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613250"/>
            <a:ext cx="5775269" cy="373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43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111CB-88C3-6CB1-8C1C-FAB65EE77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B7B0-9DA9-9A94-AA58-563B6C8D95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D" dirty="0" err="1"/>
              <a:t>Pemilihan</a:t>
            </a:r>
            <a:r>
              <a:rPr lang="en-ID" dirty="0"/>
              <a:t> MCB, Kabel, </a:t>
            </a:r>
            <a:r>
              <a:rPr lang="en-ID" dirty="0" err="1"/>
              <a:t>Kontaktor</a:t>
            </a:r>
            <a:r>
              <a:rPr lang="en-ID" dirty="0"/>
              <a:t>, dan Overload Relay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997985-46A2-52E9-95B9-E2AB8012D67D}"/>
              </a:ext>
            </a:extLst>
          </p:cNvPr>
          <p:cNvSpPr txBox="1">
            <a:spLocks/>
          </p:cNvSpPr>
          <p:nvPr/>
        </p:nvSpPr>
        <p:spPr>
          <a:xfrm>
            <a:off x="2758440" y="4581045"/>
            <a:ext cx="6675120" cy="12525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D" dirty="0"/>
              <a:t>DOL Starter</a:t>
            </a:r>
          </a:p>
        </p:txBody>
      </p:sp>
    </p:spTree>
    <p:extLst>
      <p:ext uri="{BB962C8B-B14F-4D97-AF65-F5344CB8AC3E}">
        <p14:creationId xmlns:p14="http://schemas.microsoft.com/office/powerpoint/2010/main" val="2730333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1046-5282-7924-C2E9-8CCC5FB62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dirty="0" err="1"/>
              <a:t>Pemilihan</a:t>
            </a:r>
            <a:r>
              <a:rPr lang="en-US" dirty="0"/>
              <a:t> MCB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3FC18C9-A09F-CCB0-FF7E-53EBEDA83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4209" y="2108199"/>
            <a:ext cx="5445793" cy="41435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FB7162-71D0-0F89-6B5C-9566DABE9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447" y="1921387"/>
            <a:ext cx="5148824" cy="43303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BC0730-65E7-F290-E1A9-E914ABA934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46" r="1058"/>
          <a:stretch>
            <a:fillRect/>
          </a:stretch>
        </p:blipFill>
        <p:spPr>
          <a:xfrm>
            <a:off x="221998" y="2228394"/>
            <a:ext cx="948399" cy="371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40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C99EF-ED8F-F180-B4C1-A04F4BFB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7B46-2C76-2E6D-D2F0-DDF53808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5745972" cy="1450757"/>
          </a:xfrm>
        </p:spPr>
        <p:txBody>
          <a:bodyPr/>
          <a:lstStyle/>
          <a:p>
            <a:pPr algn="ctr"/>
            <a:r>
              <a:rPr lang="en-US" dirty="0" err="1"/>
              <a:t>Pemilihan</a:t>
            </a:r>
            <a:r>
              <a:rPr lang="en-US" dirty="0"/>
              <a:t> MCB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21A70A-C810-0ADE-74FB-54145E4B1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472" y="2016028"/>
            <a:ext cx="8182115" cy="15430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6B4121-37E2-CE8A-9CCC-59E21DC2D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6" r="1058"/>
          <a:stretch>
            <a:fillRect/>
          </a:stretch>
        </p:blipFill>
        <p:spPr>
          <a:xfrm>
            <a:off x="8573728" y="559360"/>
            <a:ext cx="1396181" cy="5470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30E715-E274-F6DD-6950-3BA059D23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585" y="639478"/>
            <a:ext cx="1818607" cy="5390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EAF5A9-C03B-F236-D5B3-27BB2A698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423" y="3667431"/>
            <a:ext cx="4846212" cy="265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66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1E1F-3D4C-1D25-C4E0-73775206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4AFE-C59E-6104-0933-2DC77F95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Kabel DOL Starter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F15B92-9A67-9F57-B900-8454F49C5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4820" y="1980381"/>
            <a:ext cx="9402359" cy="434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19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1EC1B-542A-7B13-FD73-5D22374C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57DC-D82A-4C12-C4CF-148F6555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Kabel DOL Starter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FA3DC7D-A3D3-8C3D-845F-8D481C5F66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866" y="1887794"/>
            <a:ext cx="6895789" cy="43851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686926-794B-5DD5-BA9F-8742ADA5A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121" y="2019709"/>
            <a:ext cx="3960366" cy="395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01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A2942-8BFA-7608-FC38-E331A7D4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B7D0-9D82-21FE-F2B4-558C5E80A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Thermal Overload Relay DOL Starter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ACA6CF-0595-EFB3-E513-9E1DB3487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973" y="1980535"/>
            <a:ext cx="7037718" cy="2914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5B8AE3-ACD5-D0BF-E924-54608F9D0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691" y="1737360"/>
            <a:ext cx="4619587" cy="23359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53A323-26A3-4906-BF37-6EAF77585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691" y="4073274"/>
            <a:ext cx="4296696" cy="27248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422852-6D8E-AD99-F8E7-1F9180B41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865" y="4877465"/>
            <a:ext cx="2871020" cy="192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34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A8189-757B-A045-73A5-F2A377F7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5D38-AB17-5D56-E249-3CDA4F6C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Thermal Overload Relay DOL Starter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629F9D-43A1-74AF-9E6E-9937A1F41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411" y="2206368"/>
            <a:ext cx="7037718" cy="29142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191ACD-E46A-F3CF-37D3-86AB09859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741" y="1737360"/>
            <a:ext cx="2170815" cy="5048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CB3AC8-DCB3-490B-7976-907510286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428" y="5270969"/>
            <a:ext cx="2057863" cy="100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092E-675B-D688-1257-A1917C02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086F1-25CF-7AEB-31A0-46852C59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Kontaktor</a:t>
            </a:r>
            <a:r>
              <a:rPr lang="en-US" dirty="0"/>
              <a:t> DOL Starter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7C353E5-C295-81FC-66F9-370FF8DB3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563" y="1737360"/>
            <a:ext cx="9695834" cy="493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67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CAC01-F569-33CF-4D36-738B12F3F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3F00-7BA1-2AF1-D286-035E89C81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dirty="0"/>
              <a:t>Bill Material DOL Starter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F9943C-9211-ECEB-35A9-2F00D01D4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353166"/>
            <a:ext cx="10058400" cy="215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63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327C6-C200-9477-AFF6-BFD4DF5D0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8D0F1-54F7-18E0-8B2C-AD3C4536FC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D" dirty="0"/>
              <a:t>Sizing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Rangkaian</a:t>
            </a:r>
            <a:r>
              <a:rPr lang="en-ID" dirty="0"/>
              <a:t> Star-Delta</a:t>
            </a:r>
          </a:p>
        </p:txBody>
      </p:sp>
    </p:spTree>
    <p:extLst>
      <p:ext uri="{BB962C8B-B14F-4D97-AF65-F5344CB8AC3E}">
        <p14:creationId xmlns:p14="http://schemas.microsoft.com/office/powerpoint/2010/main" val="80010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37E2-02D9-CFC3-B34F-0218044F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89053" cy="145075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Sizing Kabel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Star-Delta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5D9A2D-A77F-C2D2-4BF9-9315863DEC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61362" y="1737360"/>
            <a:ext cx="9069276" cy="48732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CAD31C-49FC-A2F8-28F3-7A2E5DDA9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644" y="5813494"/>
            <a:ext cx="2676834" cy="65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82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75041-CF31-B45D-0A9A-B7CF559C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F464-5452-730C-44BA-F091CD8D7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89053" cy="145075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Sizing Kabel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Star-Delta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F8157F-3715-A834-98E7-4E1AB7E114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0197" y="1737360"/>
            <a:ext cx="7109148" cy="45257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40B32D-A488-87AB-33FD-9432435AA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787" y="1365942"/>
            <a:ext cx="2341425" cy="3240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897F77-577B-DEE4-8D57-053A493A8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231" y="4708421"/>
            <a:ext cx="3134035" cy="156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42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7543EB-ADCE-BC83-A1C7-0C3E14612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8541"/>
            <a:ext cx="12192000" cy="528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85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7E1FC-9284-301F-0A60-0EE6C675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3E4A-06CD-340C-9AA4-5D4B777C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89053" cy="145075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Thermal Overload Relay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Star-Delta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24DB7B-D4D7-464D-E214-CBEE480938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3904" y="2517059"/>
            <a:ext cx="11909351" cy="3734844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168A01-5262-9B26-2BE5-0F398E20FED4}"/>
              </a:ext>
            </a:extLst>
          </p:cNvPr>
          <p:cNvSpPr txBox="1">
            <a:spLocks/>
          </p:cNvSpPr>
          <p:nvPr/>
        </p:nvSpPr>
        <p:spPr>
          <a:xfrm>
            <a:off x="1097278" y="2054706"/>
            <a:ext cx="10032837" cy="46235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Ada 4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pemasangan</a:t>
            </a:r>
            <a:r>
              <a:rPr lang="en-US" dirty="0"/>
              <a:t> Thermal Overload Relay di </a:t>
            </a:r>
            <a:r>
              <a:rPr lang="en-US" dirty="0" err="1"/>
              <a:t>industri</a:t>
            </a:r>
            <a:r>
              <a:rPr lang="en-US" dirty="0"/>
              <a:t> </a:t>
            </a:r>
            <a:r>
              <a:rPr lang="en-US" dirty="0" err="1"/>
              <a:t>yakni</a:t>
            </a:r>
            <a:r>
              <a:rPr lang="en-US" dirty="0"/>
              <a:t>: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63082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AE3CA-0E35-6142-AF8A-85EF1C6E1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154C-C213-83FC-3FCF-CDA99EDB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89053" cy="145075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Thermal Overload Relay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Star-Delta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7C6859-1E3C-13D4-2B5C-AB9BC2048E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7279" y="2054683"/>
            <a:ext cx="4556269" cy="4098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E4F111-E14D-2890-A82F-A948B87CD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876" y="1737360"/>
            <a:ext cx="3206697" cy="473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69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6D0E-E66A-EED3-849C-F76137DF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9B1F-204D-3A99-5EA6-EE07C4378E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/>
              <a:t>Penggunaan</a:t>
            </a:r>
            <a:r>
              <a:rPr lang="en-US" dirty="0"/>
              <a:t> Cheat Sheet Sizing </a:t>
            </a:r>
            <a:r>
              <a:rPr lang="en-US" dirty="0" err="1"/>
              <a:t>Komponen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85551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50290-6801-4A79-D87E-782252CCA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DEB6-CE81-9198-152D-BF767E547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89053" cy="1450757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Penggunaan</a:t>
            </a:r>
            <a:r>
              <a:rPr lang="en-US" dirty="0"/>
              <a:t> cheat sheet sizing </a:t>
            </a:r>
            <a:r>
              <a:rPr lang="en-US" dirty="0" err="1"/>
              <a:t>komponen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56CCC0-8C47-B215-F634-5C20CC291B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64442" y="1798528"/>
            <a:ext cx="8863115" cy="477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017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CDA4-04E7-C94E-A8C7-DA536174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04EA-354B-E06E-8347-E81F82E09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896604"/>
            <a:ext cx="10058400" cy="3566160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Kesimpulan dan Tips </a:t>
            </a:r>
            <a:r>
              <a:rPr lang="en-US" sz="7200" dirty="0" err="1"/>
              <a:t>dalam</a:t>
            </a:r>
            <a:r>
              <a:rPr lang="en-US" sz="7200" dirty="0"/>
              <a:t> Desain </a:t>
            </a:r>
            <a:r>
              <a:rPr lang="en-US" sz="7200" dirty="0" err="1"/>
              <a:t>Sistem</a:t>
            </a:r>
            <a:r>
              <a:rPr lang="en-US" sz="7200" dirty="0"/>
              <a:t> </a:t>
            </a:r>
            <a:r>
              <a:rPr lang="en-US" sz="7200" dirty="0" err="1"/>
              <a:t>Kontrol</a:t>
            </a:r>
            <a:r>
              <a:rPr lang="en-US" sz="7200" dirty="0"/>
              <a:t> Motor Listrik</a:t>
            </a:r>
            <a:endParaRPr lang="en-ID" sz="7200" dirty="0"/>
          </a:p>
        </p:txBody>
      </p:sp>
    </p:spTree>
    <p:extLst>
      <p:ext uri="{BB962C8B-B14F-4D97-AF65-F5344CB8AC3E}">
        <p14:creationId xmlns:p14="http://schemas.microsoft.com/office/powerpoint/2010/main" val="46253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1B3D0-863B-6730-00ED-F097779C0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2281-883B-A9C6-A4FD-E5690891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89053" cy="14507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Kesimpulan dan Tips </a:t>
            </a:r>
            <a:r>
              <a:rPr lang="en-US" sz="4000" dirty="0" err="1"/>
              <a:t>dalam</a:t>
            </a:r>
            <a:r>
              <a:rPr lang="en-US" sz="4000" dirty="0"/>
              <a:t> Desain </a:t>
            </a:r>
            <a:r>
              <a:rPr lang="en-US" sz="4000" dirty="0" err="1"/>
              <a:t>Sistem</a:t>
            </a:r>
            <a:r>
              <a:rPr lang="en-US" sz="4000" dirty="0"/>
              <a:t> </a:t>
            </a:r>
            <a:r>
              <a:rPr lang="en-US" sz="4000" dirty="0" err="1"/>
              <a:t>Kontrol</a:t>
            </a:r>
            <a:r>
              <a:rPr lang="en-US" sz="4000" dirty="0"/>
              <a:t> Motor Listrik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BE1D8324-7E65-C958-2E96-65DE7FB33B8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53729" y="2035277"/>
                <a:ext cx="10489053" cy="4139381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D" sz="1400" b="1" dirty="0"/>
                  <a:t>Kesimpulan:</a:t>
                </a:r>
                <a:endParaRPr lang="en-ID" sz="1400" dirty="0"/>
              </a:p>
              <a:p>
                <a:pPr lvl="0">
                  <a:spcBef>
                    <a:spcPts val="600"/>
                  </a:spcBef>
                </a:pPr>
                <a:r>
                  <a:rPr lang="en-ID" sz="1400" dirty="0"/>
                  <a:t>- </a:t>
                </a:r>
                <a:r>
                  <a:rPr lang="en-ID" sz="1400" dirty="0" err="1"/>
                  <a:t>Penentuan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ukuran</a:t>
                </a:r>
                <a:r>
                  <a:rPr lang="en-ID" sz="1400" dirty="0"/>
                  <a:t> (</a:t>
                </a:r>
                <a:r>
                  <a:rPr lang="en-ID" sz="1400" i="1" dirty="0"/>
                  <a:t>sizing</a:t>
                </a:r>
                <a:r>
                  <a:rPr lang="en-ID" sz="1400" dirty="0"/>
                  <a:t>) </a:t>
                </a:r>
                <a:r>
                  <a:rPr lang="en-ID" sz="1400" dirty="0" err="1"/>
                  <a:t>komponen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selalu</a:t>
                </a:r>
                <a:r>
                  <a:rPr lang="en-ID" sz="1400" dirty="0"/>
                  <a:t> </a:t>
                </a:r>
                <a:r>
                  <a:rPr lang="en-ID" sz="1400" dirty="0" err="1"/>
                  <a:t>berawal</a:t>
                </a:r>
                <a:r>
                  <a:rPr lang="en-ID" sz="1400" dirty="0"/>
                  <a:t> </a:t>
                </a:r>
                <a:r>
                  <a:rPr lang="en-ID" sz="1400" dirty="0" err="1"/>
                  <a:t>dari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perhitungan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nilai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Arus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Penuh</a:t>
                </a:r>
                <a:r>
                  <a:rPr lang="en-ID" sz="1400" dirty="0"/>
                  <a:t> Motor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400" i="1"/>
                        </m:ctrlPr>
                      </m:sSubPr>
                      <m:e>
                        <m:r>
                          <a:rPr lang="en-ID" sz="1400" i="1"/>
                          <m:t>𝐼</m:t>
                        </m:r>
                      </m:e>
                      <m:sub>
                        <m:r>
                          <a:rPr lang="en-ID" sz="1400" i="1"/>
                          <m:t>𝐹𝐿</m:t>
                        </m:r>
                      </m:sub>
                    </m:sSub>
                  </m:oMath>
                </a14:m>
                <a:r>
                  <a:rPr lang="en-ID" sz="1400" dirty="0"/>
                  <a:t>) yang data </a:t>
                </a:r>
                <a:r>
                  <a:rPr lang="en-ID" sz="1400" dirty="0" err="1"/>
                  <a:t>spesifikasinya</a:t>
                </a:r>
                <a:r>
                  <a:rPr lang="en-ID" sz="1400" dirty="0"/>
                  <a:t> </a:t>
                </a:r>
                <a:r>
                  <a:rPr lang="en-ID" sz="1400" dirty="0" err="1"/>
                  <a:t>diambil</a:t>
                </a:r>
                <a:r>
                  <a:rPr lang="en-ID" sz="1400" dirty="0"/>
                  <a:t> </a:t>
                </a:r>
                <a:r>
                  <a:rPr lang="en-ID" sz="1400" dirty="0" err="1"/>
                  <a:t>dari</a:t>
                </a:r>
                <a:r>
                  <a:rPr lang="en-ID" sz="1400" dirty="0"/>
                  <a:t> </a:t>
                </a:r>
                <a:r>
                  <a:rPr lang="en-ID" sz="1400" i="1" dirty="0"/>
                  <a:t>nameplate</a:t>
                </a:r>
                <a:r>
                  <a:rPr lang="en-ID" sz="1400" dirty="0"/>
                  <a:t> motor. </a:t>
                </a:r>
              </a:p>
              <a:p>
                <a:pPr lvl="0">
                  <a:spcBef>
                    <a:spcPts val="600"/>
                  </a:spcBef>
                </a:pPr>
                <a:r>
                  <a:rPr lang="en-ID" sz="1400" dirty="0"/>
                  <a:t>- </a:t>
                </a:r>
                <a:r>
                  <a:rPr lang="en-ID" sz="1400" dirty="0" err="1"/>
                  <a:t>Pemilihan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ukuran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komponen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seperti</a:t>
                </a:r>
                <a:r>
                  <a:rPr lang="en-ID" sz="1400" dirty="0"/>
                  <a:t> MCB, </a:t>
                </a:r>
                <a:r>
                  <a:rPr lang="en-ID" sz="1400" dirty="0" err="1"/>
                  <a:t>Kontaktor</a:t>
                </a:r>
                <a:r>
                  <a:rPr lang="en-ID" sz="1400" dirty="0"/>
                  <a:t>, Kabel, dan Thermal Overload Relay </a:t>
                </a:r>
                <a:r>
                  <a:rPr lang="en-ID" sz="1400" dirty="0" err="1"/>
                  <a:t>dihitung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menggunakan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persentase</a:t>
                </a:r>
                <a:r>
                  <a:rPr lang="en-ID" sz="1400" dirty="0"/>
                  <a:t> </a:t>
                </a:r>
                <a:r>
                  <a:rPr lang="en-ID" sz="1400" dirty="0" err="1"/>
                  <a:t>dari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nilai</a:t>
                </a:r>
                <a:r>
                  <a:rPr lang="en-ID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400" i="1"/>
                        </m:ctrlPr>
                      </m:sSubPr>
                      <m:e>
                        <m:r>
                          <a:rPr lang="en-ID" sz="1400" i="1"/>
                          <m:t>𝐼</m:t>
                        </m:r>
                      </m:e>
                      <m:sub>
                        <m:r>
                          <a:rPr lang="en-ID" sz="1400" i="1"/>
                          <m:t>𝐹𝐿</m:t>
                        </m:r>
                      </m:sub>
                    </m:sSub>
                  </m:oMath>
                </a14:m>
                <a:r>
                  <a:rPr lang="en-ID" sz="1400" dirty="0"/>
                  <a:t>. </a:t>
                </a:r>
              </a:p>
              <a:p>
                <a:pPr lvl="0">
                  <a:spcBef>
                    <a:spcPts val="600"/>
                  </a:spcBef>
                </a:pPr>
                <a:r>
                  <a:rPr lang="en-ID" sz="1400" dirty="0"/>
                  <a:t>- </a:t>
                </a:r>
                <a:r>
                  <a:rPr lang="en-ID" sz="1400" dirty="0" err="1"/>
                  <a:t>Terdapat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perbedaan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persentase</a:t>
                </a:r>
                <a:r>
                  <a:rPr lang="en-ID" sz="1400" dirty="0"/>
                  <a:t> </a:t>
                </a:r>
                <a:r>
                  <a:rPr lang="en-ID" sz="1400" dirty="0" err="1"/>
                  <a:t>arus</a:t>
                </a:r>
                <a:r>
                  <a:rPr lang="en-ID" sz="1400" dirty="0"/>
                  <a:t> yang </a:t>
                </a:r>
                <a:r>
                  <a:rPr lang="en-ID" sz="1400" dirty="0" err="1"/>
                  <a:t>signifikan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antara</a:t>
                </a:r>
                <a:r>
                  <a:rPr lang="en-ID" sz="1400" dirty="0"/>
                  <a:t> Direct On Line (DOL) starter </a:t>
                </a:r>
                <a:r>
                  <a:rPr lang="en-ID" sz="1400" dirty="0" err="1"/>
                  <a:t>dengan</a:t>
                </a:r>
                <a:r>
                  <a:rPr lang="en-ID" sz="1400" dirty="0"/>
                  <a:t> Star-Delta (yang </a:t>
                </a:r>
                <a:r>
                  <a:rPr lang="en-ID" sz="1400" dirty="0" err="1"/>
                  <a:t>terbagi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menjadi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sisi</a:t>
                </a:r>
                <a:r>
                  <a:rPr lang="en-ID" sz="1400" dirty="0"/>
                  <a:t> </a:t>
                </a:r>
                <a:r>
                  <a:rPr lang="en-ID" sz="1400" i="1" dirty="0"/>
                  <a:t>Line</a:t>
                </a:r>
                <a:r>
                  <a:rPr lang="en-ID" sz="1400" dirty="0"/>
                  <a:t>, </a:t>
                </a:r>
                <a:r>
                  <a:rPr lang="en-ID" sz="1400" i="1" dirty="0"/>
                  <a:t>Phase</a:t>
                </a:r>
                <a:r>
                  <a:rPr lang="en-ID" sz="1400" dirty="0"/>
                  <a:t>, dan </a:t>
                </a:r>
                <a:r>
                  <a:rPr lang="en-ID" sz="1400" i="1" dirty="0"/>
                  <a:t>Star</a:t>
                </a:r>
                <a:r>
                  <a:rPr lang="en-ID" sz="1400" dirty="0"/>
                  <a:t>). </a:t>
                </a:r>
              </a:p>
              <a:p>
                <a:pPr>
                  <a:spcBef>
                    <a:spcPts val="600"/>
                  </a:spcBef>
                </a:pPr>
                <a:r>
                  <a:rPr lang="en-ID" sz="1400" b="1" dirty="0"/>
                  <a:t>Tips:</a:t>
                </a:r>
                <a:endParaRPr lang="en-ID" sz="1400" dirty="0"/>
              </a:p>
              <a:p>
                <a:pPr lvl="0">
                  <a:spcBef>
                    <a:spcPts val="600"/>
                  </a:spcBef>
                </a:pPr>
                <a:r>
                  <a:rPr lang="en-ID" sz="1400" b="1" dirty="0"/>
                  <a:t>- </a:t>
                </a:r>
                <a:r>
                  <a:rPr lang="en-ID" sz="1400" b="1" dirty="0" err="1"/>
                  <a:t>Manfaatkan</a:t>
                </a:r>
                <a:r>
                  <a:rPr lang="en-ID" sz="1400" b="1" dirty="0"/>
                  <a:t> </a:t>
                </a:r>
                <a:r>
                  <a:rPr lang="en-ID" sz="1400" b="1" i="1" dirty="0"/>
                  <a:t>Cheat Sheet</a:t>
                </a:r>
                <a:r>
                  <a:rPr lang="en-ID" sz="1400" b="1" dirty="0"/>
                  <a:t>:</a:t>
                </a:r>
                <a:r>
                  <a:rPr lang="en-ID" sz="1400" dirty="0"/>
                  <a:t> </a:t>
                </a:r>
                <a:r>
                  <a:rPr lang="en-ID" sz="1400" dirty="0" err="1"/>
                  <a:t>Selalu</a:t>
                </a:r>
                <a:r>
                  <a:rPr lang="en-ID" sz="1400" dirty="0"/>
                  <a:t> </a:t>
                </a:r>
                <a:r>
                  <a:rPr lang="en-ID" sz="1400" dirty="0" err="1"/>
                  <a:t>gunakan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tabel</a:t>
                </a:r>
                <a:r>
                  <a:rPr lang="en-ID" sz="1400" dirty="0"/>
                  <a:t> </a:t>
                </a:r>
                <a:r>
                  <a:rPr lang="en-ID" sz="1400" i="1" dirty="0"/>
                  <a:t>cheat sheet</a:t>
                </a:r>
                <a:r>
                  <a:rPr lang="en-ID" sz="1400" dirty="0"/>
                  <a:t> sizing </a:t>
                </a:r>
                <a:r>
                  <a:rPr lang="en-ID" sz="1400" dirty="0" err="1"/>
                  <a:t>komponen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sebagai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acuan</a:t>
                </a:r>
                <a:r>
                  <a:rPr lang="en-ID" sz="1400" dirty="0"/>
                  <a:t>. </a:t>
                </a:r>
              </a:p>
              <a:p>
                <a:pPr lvl="0">
                  <a:spcBef>
                    <a:spcPts val="600"/>
                  </a:spcBef>
                </a:pPr>
                <a:r>
                  <a:rPr lang="en-ID" sz="1400" b="1" dirty="0"/>
                  <a:t>- </a:t>
                </a:r>
                <a:r>
                  <a:rPr lang="en-ID" sz="1400" b="1" dirty="0" err="1"/>
                  <a:t>Hindari</a:t>
                </a:r>
                <a:r>
                  <a:rPr lang="en-ID" sz="1400" b="1" dirty="0"/>
                  <a:t> </a:t>
                </a:r>
                <a:r>
                  <a:rPr lang="en-ID" sz="1400" b="1" i="1" dirty="0"/>
                  <a:t>Undersize</a:t>
                </a:r>
                <a:r>
                  <a:rPr lang="en-ID" sz="1400" b="1" dirty="0"/>
                  <a:t> Kabel &amp; </a:t>
                </a:r>
                <a:r>
                  <a:rPr lang="en-ID" sz="1400" b="1" dirty="0" err="1"/>
                  <a:t>Kontaktor</a:t>
                </a:r>
                <a:r>
                  <a:rPr lang="en-ID" sz="1400" b="1" dirty="0"/>
                  <a:t>:</a:t>
                </a:r>
                <a:r>
                  <a:rPr lang="en-ID" sz="1400" dirty="0"/>
                  <a:t> </a:t>
                </a:r>
                <a:r>
                  <a:rPr lang="en-ID" sz="1400" dirty="0" err="1"/>
                  <a:t>Jangan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pernah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menurunkan</a:t>
                </a:r>
                <a:r>
                  <a:rPr lang="en-ID" sz="1400" dirty="0"/>
                  <a:t> batas minimum yang </a:t>
                </a:r>
                <a:r>
                  <a:rPr lang="en-ID" sz="1400" dirty="0" err="1"/>
                  <a:t>direkomendasikan</a:t>
                </a:r>
                <a:r>
                  <a:rPr lang="en-ID" sz="1400" dirty="0"/>
                  <a:t>. </a:t>
                </a:r>
              </a:p>
              <a:p>
                <a:pPr lvl="0">
                  <a:spcBef>
                    <a:spcPts val="600"/>
                  </a:spcBef>
                </a:pPr>
                <a:r>
                  <a:rPr lang="en-ID" sz="1400" b="1" dirty="0"/>
                  <a:t>- </a:t>
                </a:r>
                <a:r>
                  <a:rPr lang="en-ID" sz="1400" b="1" dirty="0" err="1"/>
                  <a:t>Berikan</a:t>
                </a:r>
                <a:r>
                  <a:rPr lang="en-ID" sz="1400" b="1" dirty="0"/>
                  <a:t> </a:t>
                </a:r>
                <a:r>
                  <a:rPr lang="en-ID" sz="1400" b="1" dirty="0" err="1"/>
                  <a:t>Proteksi</a:t>
                </a:r>
                <a:r>
                  <a:rPr lang="en-ID" sz="1400" b="1" dirty="0"/>
                  <a:t> Ekstra:</a:t>
                </a:r>
                <a:r>
                  <a:rPr lang="en-ID" sz="1400" dirty="0"/>
                  <a:t> Pada Thermal Overload Relay (DOL), </a:t>
                </a:r>
                <a:r>
                  <a:rPr lang="en-ID" sz="1400" dirty="0" err="1"/>
                  <a:t>meskipun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nilai</a:t>
                </a:r>
                <a:r>
                  <a:rPr lang="en-ID" sz="1400" dirty="0"/>
                  <a:t> batas </a:t>
                </a:r>
                <a:r>
                  <a:rPr lang="en-ID" sz="1400" dirty="0" err="1"/>
                  <a:t>maksimalnya</a:t>
                </a:r>
                <a:r>
                  <a:rPr lang="en-ID" sz="1400" dirty="0"/>
                  <a:t> </a:t>
                </a:r>
                <a:r>
                  <a:rPr lang="en-ID" sz="1400" dirty="0" err="1"/>
                  <a:t>adalah</a:t>
                </a:r>
                <a:r>
                  <a:rPr lang="en-ID" sz="1400" dirty="0"/>
                  <a:t> 115%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400" i="1"/>
                        </m:ctrlPr>
                      </m:sSubPr>
                      <m:e>
                        <m:r>
                          <a:rPr lang="en-ID" sz="1400" i="1"/>
                          <m:t>𝐼</m:t>
                        </m:r>
                      </m:e>
                      <m:sub>
                        <m:r>
                          <a:rPr lang="en-ID" sz="1400" i="1"/>
                          <m:t>𝐹𝐿</m:t>
                        </m:r>
                      </m:sub>
                    </m:sSub>
                  </m:oMath>
                </a14:m>
                <a:r>
                  <a:rPr lang="en-ID" sz="1400" dirty="0"/>
                  <a:t>, Anda </a:t>
                </a:r>
                <a:r>
                  <a:rPr lang="en-ID" sz="1400" dirty="0" err="1"/>
                  <a:t>bisa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menggunakan</a:t>
                </a:r>
                <a:r>
                  <a:rPr lang="en-ID" sz="1400" dirty="0"/>
                  <a:t> 100% </a:t>
                </a:r>
                <a:r>
                  <a:rPr lang="en-ID" sz="1400" dirty="0" err="1"/>
                  <a:t>atau</a:t>
                </a:r>
                <a:r>
                  <a:rPr lang="en-ID" sz="1400" dirty="0"/>
                  <a:t> </a:t>
                </a:r>
                <a:r>
                  <a:rPr lang="en-ID" sz="1400" dirty="0" err="1"/>
                  <a:t>bahkan</a:t>
                </a:r>
                <a:r>
                  <a:rPr lang="en-ID" sz="1400" dirty="0"/>
                  <a:t> 90% </a:t>
                </a:r>
                <a:r>
                  <a:rPr lang="en-ID" sz="1400" dirty="0" err="1"/>
                  <a:t>untuk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perlindungan</a:t>
                </a:r>
                <a:r>
                  <a:rPr lang="en-ID" sz="1400" dirty="0"/>
                  <a:t> motor yang </a:t>
                </a:r>
                <a:r>
                  <a:rPr lang="en-ID" sz="1400" dirty="0" err="1"/>
                  <a:t>lebih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maksimal</a:t>
                </a:r>
                <a:r>
                  <a:rPr lang="en-ID" sz="1400" dirty="0"/>
                  <a:t>. </a:t>
                </a:r>
              </a:p>
              <a:p>
                <a:pPr lvl="0">
                  <a:spcBef>
                    <a:spcPts val="600"/>
                  </a:spcBef>
                </a:pPr>
                <a:r>
                  <a:rPr lang="en-ID" sz="1400" b="1" dirty="0"/>
                  <a:t>- </a:t>
                </a:r>
                <a:r>
                  <a:rPr lang="en-ID" sz="1400" b="1" dirty="0" err="1"/>
                  <a:t>Cermati</a:t>
                </a:r>
                <a:r>
                  <a:rPr lang="en-ID" sz="1400" b="1" dirty="0"/>
                  <a:t> </a:t>
                </a:r>
                <a:r>
                  <a:rPr lang="en-ID" sz="1400" b="1" dirty="0" err="1"/>
                  <a:t>Letak</a:t>
                </a:r>
                <a:r>
                  <a:rPr lang="en-ID" sz="1400" b="1" dirty="0"/>
                  <a:t> Overload Star-Delta: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Perhatikan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posisi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pemasangan</a:t>
                </a:r>
                <a:r>
                  <a:rPr lang="en-ID" sz="1400" dirty="0"/>
                  <a:t> Thermal Overload Relay pada </a:t>
                </a:r>
                <a:r>
                  <a:rPr lang="en-ID" sz="1400" dirty="0" err="1"/>
                  <a:t>rangkaian</a:t>
                </a:r>
                <a:r>
                  <a:rPr lang="en-ID" sz="1400" dirty="0"/>
                  <a:t> Star-Delta; batas </a:t>
                </a:r>
                <a:r>
                  <a:rPr lang="en-ID" sz="1400" dirty="0" err="1"/>
                  <a:t>maksimalnya</a:t>
                </a:r>
                <a:r>
                  <a:rPr lang="en-ID" sz="1400" dirty="0"/>
                  <a:t> </a:t>
                </a:r>
                <a:r>
                  <a:rPr lang="en-ID" sz="1400" dirty="0" err="1"/>
                  <a:t>adalah</a:t>
                </a:r>
                <a:r>
                  <a:rPr lang="en-ID" sz="1400" dirty="0"/>
                  <a:t> 115% </a:t>
                </a:r>
                <a:r>
                  <a:rPr lang="en-ID" sz="1400" dirty="0" err="1"/>
                  <a:t>jika</a:t>
                </a:r>
                <a:r>
                  <a:rPr lang="en-ID" sz="1400" dirty="0"/>
                  <a:t> </a:t>
                </a:r>
                <a:r>
                  <a:rPr lang="en-ID" sz="1400" dirty="0" err="1"/>
                  <a:t>dipasang</a:t>
                </a:r>
                <a:r>
                  <a:rPr lang="en-ID" sz="1400" dirty="0"/>
                  <a:t> di </a:t>
                </a:r>
                <a:r>
                  <a:rPr lang="en-ID" sz="1400" dirty="0" err="1"/>
                  <a:t>sisi</a:t>
                </a:r>
                <a:r>
                  <a:rPr lang="en-ID" sz="1400" dirty="0"/>
                  <a:t> </a:t>
                </a:r>
                <a:r>
                  <a:rPr lang="en-ID" sz="1400" i="1" dirty="0"/>
                  <a:t>Line</a:t>
                </a:r>
                <a:r>
                  <a:rPr lang="en-ID" sz="1400" dirty="0"/>
                  <a:t>, </a:t>
                </a:r>
                <a:r>
                  <a:rPr lang="en-ID" sz="1400" dirty="0" err="1"/>
                  <a:t>namun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berubah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menjadi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maksimal</a:t>
                </a:r>
                <a:r>
                  <a:rPr lang="en-ID" sz="1400" dirty="0"/>
                  <a:t> 66% </a:t>
                </a:r>
                <a:r>
                  <a:rPr lang="en-ID" sz="1400" dirty="0" err="1"/>
                  <a:t>jika</a:t>
                </a:r>
                <a:r>
                  <a:rPr lang="en-ID" sz="1400" dirty="0"/>
                  <a:t> </a:t>
                </a:r>
                <a:r>
                  <a:rPr lang="en-ID" sz="1400" dirty="0" err="1"/>
                  <a:t>dipasang</a:t>
                </a:r>
                <a:r>
                  <a:rPr lang="en-ID" sz="1400" dirty="0"/>
                  <a:t> di </a:t>
                </a:r>
                <a:r>
                  <a:rPr lang="en-ID" sz="1400" dirty="0" err="1"/>
                  <a:t>sisi</a:t>
                </a:r>
                <a:r>
                  <a:rPr lang="en-ID" sz="1400" dirty="0"/>
                  <a:t> </a:t>
                </a:r>
                <a:r>
                  <a:rPr lang="en-ID" sz="1400" i="1" dirty="0"/>
                  <a:t>Phase</a:t>
                </a:r>
                <a:r>
                  <a:rPr lang="en-ID" sz="1400" dirty="0"/>
                  <a:t>.</a:t>
                </a:r>
              </a:p>
            </p:txBody>
          </p:sp>
        </mc:Choice>
        <mc:Fallback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BE1D8324-7E65-C958-2E96-65DE7FB33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53729" y="2035277"/>
                <a:ext cx="10489053" cy="4139381"/>
              </a:xfrm>
              <a:blipFill>
                <a:blip r:embed="rId2"/>
                <a:stretch>
                  <a:fillRect l="-174" t="-295" r="-127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4451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E820-F0FB-726B-F37F-4BFE5817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err="1"/>
              <a:t>Terima</a:t>
            </a:r>
            <a:r>
              <a:rPr lang="en-US" sz="6600" dirty="0"/>
              <a:t> Kasih</a:t>
            </a:r>
            <a:endParaRPr lang="en-ID" sz="6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1F611-EEEA-A212-D645-72722805A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--baren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73254-B8F8-FFDA-A9A8-61143062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3" r="18742"/>
          <a:stretch>
            <a:fillRect/>
          </a:stretch>
        </p:blipFill>
        <p:spPr>
          <a:xfrm>
            <a:off x="4581833" y="0"/>
            <a:ext cx="7610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129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{62D6A329-10FF-418F-A0F0-0FB139FD6B21}TFb63a7776-4452-49b2-8055-21efce632b726e3c8758_win32-7d1db0309ca7</Template>
  <TotalTime>1222</TotalTime>
  <Words>421</Words>
  <Application>Microsoft Office PowerPoint</Application>
  <PresentationFormat>Widescreen</PresentationFormat>
  <Paragraphs>54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Bookman Old Style</vt:lpstr>
      <vt:lpstr>Calibri</vt:lpstr>
      <vt:lpstr>Franklin Gothic Book</vt:lpstr>
      <vt:lpstr>Custom</vt:lpstr>
      <vt:lpstr>Mesin-mesin Listrik</vt:lpstr>
      <vt:lpstr>ALUR</vt:lpstr>
      <vt:lpstr>Menghitung I_FL (Arus Penuh Motor)</vt:lpstr>
      <vt:lpstr>Menghitung I_FL (arus penuh motor)</vt:lpstr>
      <vt:lpstr>Bedah Rumus I_FL</vt:lpstr>
      <vt:lpstr>Mendapatkan I_FL dari Nameplate</vt:lpstr>
      <vt:lpstr>Pemilihan MCB, Kabel, Kontaktor, dan Overload Relay</vt:lpstr>
      <vt:lpstr>Pemilihan MCB</vt:lpstr>
      <vt:lpstr>Pemilihan MCB</vt:lpstr>
      <vt:lpstr>Pemilihan Ukuran Kabel DOL Starter</vt:lpstr>
      <vt:lpstr>Pemilihan Ukuran Kabel DOL Starter</vt:lpstr>
      <vt:lpstr>Pemilihan Ukuran Thermal Overload Relay DOL Starter</vt:lpstr>
      <vt:lpstr>Pemilihan Ukuran Thermal Overload Relay DOL Starter</vt:lpstr>
      <vt:lpstr>Pemilihan Ukuran Kontaktor DOL Starter</vt:lpstr>
      <vt:lpstr>Bill Material DOL Starter</vt:lpstr>
      <vt:lpstr>Sizing Khusus untuk Rangkaian Star-Delta</vt:lpstr>
      <vt:lpstr>Sizing Kabel untuk Rangkaian Star-Delta</vt:lpstr>
      <vt:lpstr>Sizing Kabel untuk Rangkaian Star-Delta</vt:lpstr>
      <vt:lpstr>PowerPoint Presentation</vt:lpstr>
      <vt:lpstr>Thermal Overload Relay untuk Rangkaian Star-Delta</vt:lpstr>
      <vt:lpstr>Thermal Overload Relay untuk Rangkaian Star-Delta</vt:lpstr>
      <vt:lpstr>Penggunaan Cheat Sheet Sizing Komponen</vt:lpstr>
      <vt:lpstr>Penggunaan cheat sheet sizing komponen</vt:lpstr>
      <vt:lpstr>Kesimpulan dan Tips dalam Desain Sistem Kontrol Motor Listrik</vt:lpstr>
      <vt:lpstr>Kesimpulan dan Tips dalam Desain Sistem Kontrol Motor Listrik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x92</dc:creator>
  <cp:lastModifiedBy>Barendra Wisnu Ihsan Kumala</cp:lastModifiedBy>
  <cp:revision>108</cp:revision>
  <dcterms:created xsi:type="dcterms:W3CDTF">2026-08-22T12:26:52Z</dcterms:created>
  <dcterms:modified xsi:type="dcterms:W3CDTF">2026-10-11T14:54:17Z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